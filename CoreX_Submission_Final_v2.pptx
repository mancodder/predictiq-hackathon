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al Kukreja" userId="6cd0ef20-c03e-4010-a8ad-6e84fbe563d6" providerId="ADAL" clId="{9A0A1E7B-C31A-4868-AB13-4281ABD0901F}"/>
    <pc:docChg chg="modSld">
      <pc:chgData name="Sonal Kukreja" userId="6cd0ef20-c03e-4010-a8ad-6e84fbe563d6" providerId="ADAL" clId="{9A0A1E7B-C31A-4868-AB13-4281ABD0901F}" dt="2026-09-22T11:45:56.738" v="6" actId="20577"/>
      <pc:docMkLst>
        <pc:docMk/>
      </pc:docMkLst>
      <pc:sldChg chg="modSp mod">
        <pc:chgData name="Sonal Kukreja" userId="6cd0ef20-c03e-4010-a8ad-6e84fbe563d6" providerId="ADAL" clId="{9A0A1E7B-C31A-4868-AB13-4281ABD0901F}" dt="2026-09-22T11:45:56.738" v="6" actId="20577"/>
        <pc:sldMkLst>
          <pc:docMk/>
          <pc:sldMk cId="0" sldId="257"/>
        </pc:sldMkLst>
        <pc:spChg chg="mod">
          <ac:chgData name="Sonal Kukreja" userId="6cd0ef20-c03e-4010-a8ad-6e84fbe563d6" providerId="ADAL" clId="{9A0A1E7B-C31A-4868-AB13-4281ABD0901F}" dt="2026-09-22T11:45:56.738" v="6" actId="20577"/>
          <ac:spMkLst>
            <pc:docMk/>
            <pc:sldMk cId="0" sldId="257"/>
            <ac:spMk id="23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3749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logo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"/>
            <a:ext cx="5120640" cy="6217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035040" y="146304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Engineering &amp; Technology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8321040" y="914400"/>
            <a:ext cx="3867912" cy="5943600"/>
          </a:xfrm>
          <a:prstGeom prst="rect">
            <a:avLst/>
          </a:prstGeom>
          <a:solidFill>
            <a:srgbClr val="0E1B3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9646920" y="1965960"/>
            <a:ext cx="1188720" cy="118872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5987" y="2275027"/>
            <a:ext cx="570586" cy="57058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321040" y="3429000"/>
            <a:ext cx="3867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1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8321040" y="3931920"/>
            <a:ext cx="3867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D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Submission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8321040" y="5852160"/>
            <a:ext cx="3867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F8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[Submission deadline: DD Month 2026]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1280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9D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POWERED HACKATHON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160020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Innovate 2026</a:t>
            </a:r>
            <a:endParaRPr lang="en-US" sz="4000" dirty="0"/>
          </a:p>
        </p:txBody>
      </p:sp>
      <p:sp>
        <p:nvSpPr>
          <p:cNvPr id="13" name="Text 9"/>
          <p:cNvSpPr txBox="1"/>
          <p:nvPr/>
        </p:nvSpPr>
        <p:spPr>
          <a:xfrm>
            <a:off x="640080" y="23957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6FB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Innovate  ·  Build  ·  Empower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40080" y="30632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DB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3566160" y="3090672"/>
            <a:ext cx="4480560" cy="457200"/>
          </a:xfrm>
          <a:prstGeom prst="roundRect">
            <a:avLst>
              <a:gd name="adj" fmla="val 12000"/>
            </a:avLst>
          </a:prstGeom>
          <a:solidFill>
            <a:srgbClr val="1D3354"/>
          </a:solidFill>
          <a:ln w="12700">
            <a:solidFill>
              <a:srgbClr val="3A4E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 txBox="1"/>
          <p:nvPr/>
        </p:nvSpPr>
        <p:spPr>
          <a:xfrm>
            <a:off x="3703320" y="309067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CoreX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640080" y="37490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DB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ID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3566160" y="3776472"/>
            <a:ext cx="4480560" cy="457200"/>
          </a:xfrm>
          <a:prstGeom prst="roundRect">
            <a:avLst>
              <a:gd name="adj" fmla="val 12000"/>
            </a:avLst>
          </a:prstGeom>
          <a:solidFill>
            <a:srgbClr val="1D3354"/>
          </a:solidFill>
          <a:ln w="12700">
            <a:solidFill>
              <a:srgbClr val="3A4E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5"/>
          <p:cNvSpPr txBox="1"/>
          <p:nvPr/>
        </p:nvSpPr>
        <p:spPr>
          <a:xfrm>
            <a:off x="3703320" y="377647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418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640080" y="44348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DB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Title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3566160" y="4462272"/>
            <a:ext cx="4480560" cy="457200"/>
          </a:xfrm>
          <a:prstGeom prst="roundRect">
            <a:avLst>
              <a:gd name="adj" fmla="val 12000"/>
            </a:avLst>
          </a:prstGeom>
          <a:solidFill>
            <a:srgbClr val="1D3354"/>
          </a:solidFill>
          <a:ln w="12700">
            <a:solidFill>
              <a:srgbClr val="3A4E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8"/>
          <p:cNvSpPr txBox="1"/>
          <p:nvPr/>
        </p:nvSpPr>
        <p:spPr>
          <a:xfrm>
            <a:off x="3703320" y="446227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 Seeing Next Month, Not Just Last Month</a:t>
            </a:r>
            <a:endParaRPr lang="en-US" sz="1250" dirty="0"/>
          </a:p>
        </p:txBody>
      </p:sp>
      <p:sp>
        <p:nvSpPr>
          <p:cNvPr id="23" name="Text 19"/>
          <p:cNvSpPr txBox="1"/>
          <p:nvPr/>
        </p:nvSpPr>
        <p:spPr>
          <a:xfrm>
            <a:off x="640080" y="51206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DB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/  Bucket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3566160" y="5148072"/>
            <a:ext cx="4480560" cy="457200"/>
          </a:xfrm>
          <a:prstGeom prst="roundRect">
            <a:avLst>
              <a:gd name="adj" fmla="val 12000"/>
            </a:avLst>
          </a:prstGeom>
          <a:solidFill>
            <a:srgbClr val="1D3354"/>
          </a:solidFill>
          <a:ln w="12700">
            <a:solidFill>
              <a:srgbClr val="3A4E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1"/>
          <p:cNvSpPr txBox="1"/>
          <p:nvPr/>
        </p:nvSpPr>
        <p:spPr>
          <a:xfrm>
            <a:off x="3703320" y="514807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Enterprise Intelligence</a:t>
            </a:r>
            <a:endParaRPr lang="en-US" sz="1250" dirty="0"/>
          </a:p>
        </p:txBody>
      </p:sp>
      <p:sp>
        <p:nvSpPr>
          <p:cNvPr id="26" name="Text 22"/>
          <p:cNvSpPr txBox="1"/>
          <p:nvPr/>
        </p:nvSpPr>
        <p:spPr>
          <a:xfrm>
            <a:off x="640080" y="58064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DB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Leader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3566160" y="5833872"/>
            <a:ext cx="4480560" cy="457200"/>
          </a:xfrm>
          <a:prstGeom prst="roundRect">
            <a:avLst>
              <a:gd name="adj" fmla="val 12000"/>
            </a:avLst>
          </a:prstGeom>
          <a:solidFill>
            <a:srgbClr val="1D3354"/>
          </a:solidFill>
          <a:ln w="12700">
            <a:solidFill>
              <a:srgbClr val="3A4E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4"/>
          <p:cNvSpPr txBox="1"/>
          <p:nvPr/>
        </p:nvSpPr>
        <p:spPr>
          <a:xfrm>
            <a:off x="3703320" y="583387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Manthan Handa, S24CSEU2133, s24cseu2133@bennett.edu.in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Details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418320" y="411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– Idea Submission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CoreX   |   Microsoft Innovate 2026 – Bennett University   |   Slide 2 of 6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352044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S. No.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Name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Enrollment No.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Programme &amp; Year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Email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 in Team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Manthan Handa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S24CSEU2133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B.Tech CSE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s24cseu2133@bennett.edu.in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Team Leader / AI &amp; ML Engineer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Trishna Paswan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S24CSEU0083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B.Tech CSE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s24cseu0083@bennett.edu.in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AI/ML &amp; Data Engineer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Vidhita Grover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S24CSEU0177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B.Tech CSE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s24cseu0177@bennett.edu.in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Explainable AI &amp; Backend Eng.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Parth Chaturvedi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S24CSEU1984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B.Tech CSE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s24cseu1984@bennett.edu.in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Frontend &amp; BI Engineer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892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of 2 to 6 members. Delete unused rows. Mention any mentor separately below if applicable.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5349240"/>
            <a:ext cx="11091672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 txBox="1"/>
          <p:nvPr/>
        </p:nvSpPr>
        <p:spPr>
          <a:xfrm>
            <a:off x="777240" y="534924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Mentor: Dr. Neha Kumari, Bennett University, neha.kumari@bennett.edu.in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418320" y="411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– Idea Submission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CoreX   |   Microsoft Innovate 2026 – Bennett University   |   Slide 3 of 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54406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76200" dist="25400" dir="5400000" algn="bl" rotWithShape="0">
              <a:srgbClr val="9AA8BA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77240" y="155448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1685239"/>
            <a:ext cx="241402" cy="24140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155448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problem?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194560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spcAft>
                <a:spcPts val="600"/>
              </a:spcAft>
              <a:buSzPct val="100000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Subscription businesses often recognize churn after revenue has already been lost.
• Traditional dashboards focus on historical performance rather than future customer risk.
• Retention teams need to know who is likely to churn next — and why.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199632" y="1325880"/>
            <a:ext cx="54406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76200" dist="25400" dir="5400000" algn="bl" rotWithShape="0">
              <a:srgbClr val="9AA8BA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6428232" y="155448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8991" y="1685239"/>
            <a:ext cx="241402" cy="24140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068312" y="155448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faces it?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6519672" y="2194560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spcAft>
                <a:spcPts val="600"/>
              </a:spcAft>
              <a:buSzPct val="100000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Customer Success Managers and retention teams
• SaaS and telecom subscription businesses
• Analysts managing thousands of customer accounts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48640" y="3886200"/>
            <a:ext cx="11091672" cy="25603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76200" dist="25400" dir="5400000" algn="bl" rotWithShape="0">
              <a:srgbClr val="9AA8BA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777240" y="411480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999" y="424555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17320" y="4114800"/>
            <a:ext cx="9994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current options fall short?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68680" y="4754880"/>
            <a:ext cx="104515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spcAft>
                <a:spcPts val="600"/>
              </a:spcAft>
              <a:buSzPct val="100000"/>
            </a:pPr>
            <a:r>
              <a:rPr lang="en-US" sz="11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Historical BI: Shows what happened, not what may happen next.
• Manual Investigation: Difficult to scale across thousands of customers.
• Black-Box AI: May provide a risk score without explaining the reasons behind the risk.
Core Gap:
Traditional BI → 'What happened?'
⬇
PredictIQ → 'What may happen next, why, and where should we act?'</a:t>
            </a:r>
            <a:endParaRPr lang="en-US" sz="11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418320" y="411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– Idea Submission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CoreX   |   Microsoft Innovate 2026 – Bennett University   |   Slide 4 of 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76200" dist="25400" dir="5400000" algn="bl" rotWithShape="0">
              <a:srgbClr val="9AA8BA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77240" y="155448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1685239"/>
            <a:ext cx="241402" cy="24140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1554480"/>
            <a:ext cx="9994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idea in one line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194560"/>
            <a:ext cx="10451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PredictIQ is an AI-powered retention intelligence platform that predicts customer churn, explains the drivers behind each prediction, and quantifies potential revenue at risk.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2926080"/>
            <a:ext cx="54406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76200" dist="25400" dir="5400000" algn="bl" rotWithShape="0">
              <a:srgbClr val="9AA8BA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777240" y="315468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999" y="3285439"/>
            <a:ext cx="241402" cy="24140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17320" y="315468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solves the problem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868680" y="3794760"/>
            <a:ext cx="4800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Predictive Scoring: Assign a proactive churn probability to each customer using machine learning.
02 — Explainable AI: Use SHAP-based driver analysis to identify the factors influencing individual customer risk.
03 — Revenue-at-Risk Prioritization: Combine churn risk with customer value to help retention teams prioritize accounts.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199632" y="2926080"/>
            <a:ext cx="54406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76200" dist="25400" dir="5400000" algn="bl" rotWithShape="0">
              <a:srgbClr val="9AA8BA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6428232" y="315468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8991" y="328543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068312" y="315468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it different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6519672" y="3794760"/>
            <a:ext cx="4800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PredictIQ doesn't just identify customers at risk — it explains why they are at risk and translates that risk into business impact.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Approach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418320" y="411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– Idea Submission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CoreX   |   Microsoft Innovate 2026 – Bennett University   |   Slide 5 of 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tech stack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548640" y="1737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• Vite • Tailwind CSS • Recharts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14016" y="173736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2414016" y="1737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• Python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79392" y="173736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4279392" y="1737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prototype -&gt; PostgreSQL planned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44768" y="173736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6144768" y="1737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• XGBoost • SHAP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10144" y="173736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8010144" y="1737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MVP -&gt; Cloud deployment planned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875520" y="173736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9875520" y="1737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25420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system will work 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5800" y="30175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63500" dist="25400" dir="5400000" algn="bl" rotWithShape="0">
              <a:srgbClr val="9AA8BA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685800" y="30175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
↓
Quality &amp; Leakage Checks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090672" y="3319272"/>
            <a:ext cx="429768" cy="310896"/>
          </a:xfrm>
          <a:prstGeom prst="rightArrow">
            <a:avLst/>
          </a:prstGeom>
          <a:solidFill>
            <a:srgbClr val="B9C7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593592" y="30175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63500" dist="25400" dir="5400000" algn="bl" rotWithShape="0">
              <a:srgbClr val="9AA8BA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3593592" y="30175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
↓
XGBoost + SHAP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98464" y="3319272"/>
            <a:ext cx="429768" cy="310896"/>
          </a:xfrm>
          <a:prstGeom prst="rightArrow">
            <a:avLst/>
          </a:prstGeom>
          <a:solidFill>
            <a:srgbClr val="B9C7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501384" y="30175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  <a:effectLst>
            <a:outerShdw blurRad="63500" dist="25400" dir="5400000" algn="bl" rotWithShape="0">
              <a:srgbClr val="9AA8BA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6501384" y="30175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+ Drivers
↓
PredictIQ Dashboard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906256" y="3319272"/>
            <a:ext cx="429768" cy="310896"/>
          </a:xfrm>
          <a:prstGeom prst="rightArrow">
            <a:avLst/>
          </a:prstGeom>
          <a:solidFill>
            <a:srgbClr val="B9C7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9409176" y="30175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63500" dist="25400" dir="5400000" algn="bl" rotWithShape="0">
              <a:srgbClr val="9AA8BA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9409176" y="30175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at Risk
↓
Targeted Retention Action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4343400"/>
            <a:ext cx="1109167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76200" dist="25400" dir="5400000" algn="bl" rotWithShape="0">
              <a:srgbClr val="9AA8BA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777240" y="457200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4702759"/>
            <a:ext cx="241402" cy="241402"/>
          </a:xfrm>
          <a:prstGeom prst="rect">
            <a:avLst/>
          </a:prstGeom>
        </p:spPr>
      </p:pic>
      <p:sp>
        <p:nvSpPr>
          <p:cNvPr id="33" name="Text 30"/>
          <p:cNvSpPr txBox="1"/>
          <p:nvPr/>
        </p:nvSpPr>
        <p:spPr>
          <a:xfrm>
            <a:off x="1417320" y="4572000"/>
            <a:ext cx="9994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have started working on</a:t>
            </a:r>
            <a:endParaRPr lang="en-US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868680" y="5212080"/>
            <a:ext cx="10451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spcAft>
                <a:spcPts val="600"/>
              </a:spcAft>
              <a:buSzPct val="100000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Functional PredictIQ dashboard prototype
• ML-based churn prediction pipeline
• Data-health and model-monitoring architecture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53212" y="304547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and Next Steps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418320" y="411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– Idea Submission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CoreX   |   Microsoft Innovate 2026 – Bennett University   |   Slide 6 of 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54406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76200" dist="25400" dir="5400000" algn="bl" rotWithShape="0">
              <a:srgbClr val="9AA8BA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88023" y="1433779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1571853"/>
            <a:ext cx="241402" cy="24140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0919" y="1411782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impact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1904747"/>
            <a:ext cx="5120640" cy="1524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spcAft>
                <a:spcPts val="600"/>
              </a:spcAft>
              <a:buSzPct val="100000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Earlier Intervention: Identify customers at risk before churn occurs.
• Smarter Prioritization: Focus resources on high-risk and high-value accounts.
• Explainable Decisions: Give teams understandable drivers behind predicted risk.
• Business Visibility: Translate customer risk into potential revenue impact.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199632" y="1325880"/>
            <a:ext cx="54406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76200" dist="25400" dir="5400000" algn="bl" rotWithShape="0">
              <a:srgbClr val="9AA8BA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6428232" y="155448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8991" y="1685239"/>
            <a:ext cx="241402" cy="24140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068312" y="155448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6519672" y="2194560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already built a functional prototype covering the ML pipeline and UI.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48640" y="3749040"/>
            <a:ext cx="544068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76200" dist="25400" dir="5400000" algn="bl" rotWithShape="0">
              <a:srgbClr val="9AA8BA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777240" y="397764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999" y="410839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17320" y="397764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for the next round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68680" y="4617720"/>
            <a:ext cx="4800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01 - INTEGRATE: Connect a persistent database to store customer history.
02 - INTELLIGENCE: Build automated LLM-powered intervention playbooks.
03 - DEPLOY: Deploy full-stack PredictIQ platform for live demonstration.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6199632" y="3749040"/>
            <a:ext cx="544068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76200" dist="25400" dir="5400000" algn="bl" rotWithShape="0">
              <a:srgbClr val="9AA8BA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6428232" y="397764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8991" y="4108399"/>
            <a:ext cx="241402" cy="24140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068312" y="397764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 and data sources</a:t>
            </a:r>
            <a:endParaRPr lang="en-US" sz="1700" dirty="0"/>
          </a:p>
        </p:txBody>
      </p:sp>
      <p:sp>
        <p:nvSpPr>
          <p:cNvPr id="24" name="Text 18"/>
          <p:cNvSpPr txBox="1"/>
          <p:nvPr/>
        </p:nvSpPr>
        <p:spPr>
          <a:xfrm>
            <a:off x="6519672" y="4617720"/>
            <a:ext cx="4800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spcAft>
                <a:spcPts val="600"/>
              </a:spcAft>
              <a:buSzPct val="100000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Telco Customer Churn Dataset — Kaggle / IBM
• SHAP — Lundberg &amp; Lee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806</Words>
  <Application>Microsoft Office PowerPoint</Application>
  <PresentationFormat>Widescreen</PresentationFormat>
  <Paragraphs>104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Manthan HANDA</cp:lastModifiedBy>
  <cp:revision>4</cp:revision>
  <dcterms:created xsi:type="dcterms:W3CDTF">2026-09-22T11:43:49Z</dcterms:created>
  <dcterms:modified xsi:type="dcterms:W3CDTF">2026-09-26T17:44:37Z</dcterms:modified>
</cp:coreProperties>
</file>